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0"/>
          </a:solidFill>
          <a:ln>
            <a:solidFill>
              <a:srgbClr val="12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914400"/>
            <a:ext cx="1828800" cy="1828800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2468880"/>
            <a:ext cx="914400" cy="914400"/>
          </a:xfrm>
          <a:prstGeom prst="ellipse">
            <a:avLst/>
          </a:prstGeom>
          <a:solidFill>
            <a:srgbClr val="F5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4572000"/>
            <a:ext cx="2286000" cy="2286000"/>
          </a:xfrm>
          <a:prstGeom prst="ellipse">
            <a:avLst/>
          </a:prstGeom>
          <a:solidFill>
            <a:srgbClr val="7D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BED2"/>
                </a:solidFill>
                <a:latin typeface="Aptos"/>
              </a:defRPr>
            </a:pPr>
            <a:r>
              <a:t>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7132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Loan Applicant</a:t>
            </a:r>
            <a:br/>
            <a: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7180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D7E1F0"/>
                </a:solidFill>
                <a:latin typeface="Aptos"/>
              </a:defRPr>
            </a:pPr>
            <a:r>
              <a:t>From cleaned data → insight → business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5760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ECDE1"/>
                </a:solidFill>
                <a:latin typeface="Aptos"/>
              </a:defRPr>
            </a:pPr>
            <a:r>
              <a:t>A descriptive analysis of applicant income, requested loans, terms and credit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074920"/>
            <a:ext cx="2011680" cy="502920"/>
          </a:xfrm>
          <a:prstGeom prst="roundRect">
            <a:avLst/>
          </a:prstGeom>
          <a:solidFill>
            <a:srgbClr val="2DBED2"/>
          </a:solidFill>
          <a:ln>
            <a:solidFill>
              <a:srgbClr val="2D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07492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1C30"/>
                </a:solidFill>
                <a:latin typeface="Aptos"/>
              </a:defRPr>
            </a:pPr>
            <a:r>
              <a:t>981 applicants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58064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Loan portfolio snapshot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67DC"/>
                </a:solidFill>
                <a:latin typeface="Aptos"/>
              </a:defRPr>
            </a:pPr>
            <a:r>
              <a:t>01 —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C30"/>
                </a:solidFill>
                <a:latin typeface="Aptos"/>
              </a:defRPr>
            </a:pPr>
            <a:r>
              <a:t>What is the business trying to understand?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87D"/>
                </a:solidFill>
                <a:latin typeface="Aptos"/>
              </a:defRPr>
            </a:pPr>
            <a:r>
              <a:t>A lender wants to understand its applicant pool before improving its initial screening and loan-sizing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675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467DC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58521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C30"/>
                </a:solidFill>
                <a:latin typeface="Aptos"/>
              </a:defRPr>
            </a:pPr>
            <a:r>
              <a:t>“What patterns in applicant income,</a:t>
            </a:r>
            <a:br/>
            <a:r>
              <a:t>loan size, term and credit history</a:t>
            </a:r>
            <a:br/>
            <a:r>
              <a:t>can inform an initial screening workflow?”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874519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C687D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1874519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C687D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1874519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C687D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2" name="Oval 11"/>
          <p:cNvSpPr/>
          <p:nvPr/>
        </p:nvSpPr>
        <p:spPr>
          <a:xfrm>
            <a:off x="7726679" y="2331720"/>
            <a:ext cx="1051560" cy="1051560"/>
          </a:xfrm>
          <a:prstGeom prst="ellipse">
            <a:avLst/>
          </a:prstGeom>
          <a:solidFill>
            <a:srgbClr val="34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81160" y="2331720"/>
            <a:ext cx="1051560" cy="1051560"/>
          </a:xfrm>
          <a:prstGeom prst="ellipse">
            <a:avLst/>
          </a:prstGeom>
          <a:solidFill>
            <a:srgbClr val="7D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0" y="2331720"/>
            <a:ext cx="1051560" cy="1051560"/>
          </a:xfrm>
          <a:prstGeom prst="ellipse">
            <a:avLst/>
          </a:prstGeom>
          <a:solidFill>
            <a:srgbClr val="2A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487168"/>
            <a:ext cx="1051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981</a:t>
            </a:r>
            <a:br/>
            <a:r>
              <a:t>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487168"/>
            <a:ext cx="1051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Key</a:t>
            </a:r>
            <a:br/>
            <a:r>
              <a:t>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2487168"/>
            <a:ext cx="1051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Better</a:t>
            </a:r>
            <a:br/>
            <a:r>
              <a:t>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7490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87D"/>
                </a:solidFill>
                <a:latin typeface="Aptos"/>
              </a:defRPr>
            </a:pPr>
            <a:r>
              <a:t>The analysis is descriptive: the dataset does not contain loan approval or repayment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67DC"/>
                </a:solidFill>
                <a:latin typeface="Aptos"/>
              </a:defRPr>
            </a:pPr>
            <a:r>
              <a:t>02 —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C30"/>
                </a:solidFill>
                <a:latin typeface="Aptos"/>
              </a:defRPr>
            </a:pPr>
            <a:r>
              <a:t>Turning messy records into analysis-ready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423160" cy="2788920"/>
          </a:xfrm>
          <a:prstGeom prst="round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2423160" cy="109728"/>
          </a:xfrm>
          <a:prstGeom prst="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467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21C30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87D"/>
                </a:solidFill>
                <a:latin typeface="Aptos"/>
              </a:defRPr>
            </a:pPr>
            <a:r>
              <a:t>Rows, columns,</a:t>
            </a:r>
            <a:br/>
            <a:r>
              <a:t>data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74519"/>
            <a:ext cx="2423160" cy="2788920"/>
          </a:xfrm>
          <a:prstGeom prst="round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874519"/>
            <a:ext cx="2423160" cy="109728"/>
          </a:xfrm>
          <a:prstGeom prst="rect">
            <a:avLst/>
          </a:prstGeom>
          <a:solidFill>
            <a:srgbClr val="2DBED2"/>
          </a:solidFill>
          <a:ln>
            <a:solidFill>
              <a:srgbClr val="2D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488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BE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060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21C30"/>
                </a:solidFill>
                <a:latin typeface="Aptos"/>
              </a:defRPr>
            </a:pPr>
            <a:r>
              <a:t>Standardise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5468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87D"/>
                </a:solidFill>
                <a:latin typeface="Aptos"/>
              </a:defRPr>
            </a:pPr>
            <a:r>
              <a:t>Gender +</a:t>
            </a:r>
            <a:br/>
            <a:r>
              <a:t>property area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74519"/>
            <a:ext cx="2423160" cy="2788920"/>
          </a:xfrm>
          <a:prstGeom prst="round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74519"/>
            <a:ext cx="2423160" cy="109728"/>
          </a:xfrm>
          <a:prstGeom prst="rect">
            <a:avLst/>
          </a:prstGeom>
          <a:solidFill>
            <a:srgbClr val="F5973E"/>
          </a:solidFill>
          <a:ln>
            <a:solidFill>
              <a:srgbClr val="F5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97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060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21C30"/>
                </a:solidFill>
                <a:latin typeface="Aptos"/>
              </a:defRPr>
            </a:pPr>
            <a:r>
              <a:t>Repair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5468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87D"/>
                </a:solidFill>
                <a:latin typeface="Aptos"/>
              </a:defRPr>
            </a:pPr>
            <a:r>
              <a:t>Missing values +</a:t>
            </a:r>
            <a:br/>
            <a:r>
              <a:t>numeric formats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874519"/>
            <a:ext cx="2423160" cy="2788920"/>
          </a:xfrm>
          <a:prstGeom prst="round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39" y="1874519"/>
            <a:ext cx="2423160" cy="109728"/>
          </a:xfrm>
          <a:prstGeom prst="rect">
            <a:avLst/>
          </a:prstGeom>
          <a:solidFill>
            <a:srgbClr val="2AAA70"/>
          </a:solidFill>
          <a:ln>
            <a:solidFill>
              <a:srgbClr val="2A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39" y="21488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AAA7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39" y="26060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21C30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315468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87D"/>
                </a:solidFill>
                <a:latin typeface="Aptos"/>
              </a:defRPr>
            </a:pPr>
            <a:r>
              <a:t>Duplicates +</a:t>
            </a:r>
            <a:br/>
            <a:r>
              <a:t>final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6636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67DC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102352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21C30"/>
                </a:solidFill>
                <a:latin typeface="Aptos"/>
              </a:defRPr>
            </a:pPr>
            <a:r>
              <a:t>No duplicate rows were present in the original dataset.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07492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700" b="1">
                <a:solidFill>
                  <a:srgbClr val="2AAA70"/>
                </a:solidFill>
                <a:latin typeface="Aptos"/>
              </a:defRPr>
            </a:pPr>
            <a:r>
              <a:t>981 → cleaned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67DC"/>
                </a:solidFill>
                <a:latin typeface="Aptos"/>
              </a:defRPr>
            </a:pPr>
            <a:r>
              <a:t>03 — DATA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C30"/>
                </a:solidFill>
                <a:latin typeface="Aptos"/>
              </a:defRPr>
            </a:pPr>
            <a:r>
              <a:t>The cleaned dataset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1874519"/>
          </a:xfrm>
          <a:prstGeom prst="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67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C30"/>
                </a:solidFill>
                <a:latin typeface="Aptos"/>
              </a:defRPr>
            </a:pPr>
            <a:r>
              <a:t>981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07791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87D"/>
                </a:solidFill>
                <a:latin typeface="Aptos"/>
              </a:defRPr>
            </a:pPr>
            <a:r>
              <a:t>APPLICANTS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73152" cy="1874519"/>
          </a:xfrm>
          <a:prstGeom prst="rect">
            <a:avLst/>
          </a:prstGeom>
          <a:solidFill>
            <a:srgbClr val="7D5BDC"/>
          </a:solidFill>
          <a:ln>
            <a:solidFill>
              <a:srgbClr val="7D5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D5B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31720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C30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07791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87D"/>
                </a:solidFill>
                <a:latin typeface="Aptos"/>
              </a:defRPr>
            </a:pPr>
            <a:r>
              <a:t>MEDIAN LOAN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3736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737360"/>
            <a:ext cx="73152" cy="1874519"/>
          </a:xfrm>
          <a:prstGeom prst="rect">
            <a:avLst/>
          </a:prstGeom>
          <a:solidFill>
            <a:srgbClr val="F5973E"/>
          </a:solidFill>
          <a:ln>
            <a:solidFill>
              <a:srgbClr val="F5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96596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97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31720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C30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07791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87D"/>
                </a:solidFill>
                <a:latin typeface="Aptos"/>
              </a:defRPr>
            </a:pPr>
            <a:r>
              <a:t>360-MONTH TERM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73736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1737360"/>
            <a:ext cx="73152" cy="1874519"/>
          </a:xfrm>
          <a:prstGeom prst="rect">
            <a:avLst/>
          </a:prstGeom>
          <a:solidFill>
            <a:srgbClr val="2AAA70"/>
          </a:solidFill>
          <a:ln>
            <a:solidFill>
              <a:srgbClr val="2A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96596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AA7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331720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C30"/>
                </a:solidFill>
                <a:latin typeface="Aptos"/>
              </a:defRPr>
            </a:pPr>
            <a:r>
              <a:t>78%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907791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87D"/>
                </a:solidFill>
                <a:latin typeface="Aptos"/>
              </a:defRPr>
            </a:pPr>
            <a:r>
              <a:t>GRADUATES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21C30"/>
                </a:solidFill>
                <a:latin typeface="Aptos"/>
              </a:defRPr>
            </a:pPr>
            <a:r>
              <a:t>The first pattern is concentration: applicants cluster around a typical loan size and overwhelmingly request the 360-month term.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67DC"/>
                </a:solidFill>
                <a:latin typeface="Aptos"/>
              </a:defRPr>
            </a:pPr>
            <a:r>
              <a:t>04 — FINDING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C30"/>
                </a:solidFill>
                <a:latin typeface="Aptos"/>
              </a:defRPr>
            </a:pPr>
            <a:r>
              <a:t>Loan requests cluster around a typical amount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906684"/>
            <a:ext cx="438912" cy="533995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25880" y="2468880"/>
            <a:ext cx="438912" cy="2971800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732008"/>
            <a:ext cx="438912" cy="2708671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23160" y="4659034"/>
            <a:ext cx="438912" cy="781645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5154334"/>
            <a:ext cx="438912" cy="286345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5316855"/>
            <a:ext cx="438912" cy="123824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69079" y="5371028"/>
            <a:ext cx="438912" cy="69651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5425201"/>
            <a:ext cx="438912" cy="15478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59" y="5386506"/>
            <a:ext cx="438912" cy="54173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14999" y="5425201"/>
            <a:ext cx="438912" cy="15478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5425201"/>
            <a:ext cx="438912" cy="15478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12279" y="5425201"/>
            <a:ext cx="438912" cy="15478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778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87D"/>
                </a:solidFill>
                <a:latin typeface="Aptos"/>
              </a:defRPr>
            </a:pPr>
            <a:r>
              <a:t>LOWER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5778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87D"/>
                </a:solidFill>
                <a:latin typeface="Aptos"/>
              </a:defRPr>
            </a:pPr>
            <a:r>
              <a:t>HIGHER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1965960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21C30"/>
                </a:solidFill>
                <a:latin typeface="Aptos"/>
              </a:defRPr>
            </a:pPr>
            <a:r>
              <a:t>Median  126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78892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7D5BDC"/>
                </a:solidFill>
                <a:latin typeface="Aptos"/>
              </a:defRPr>
            </a:pPr>
            <a:r>
              <a:t>Mean  142.1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703320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C687D"/>
                </a:solidFill>
                <a:latin typeface="Aptos"/>
              </a:defRPr>
            </a:pPr>
            <a:r>
              <a:t>The mean sits above the median because some larger requests pull the average upward.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0"/>
          </a:solidFill>
          <a:ln>
            <a:solidFill>
              <a:srgbClr val="12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DBED2"/>
                </a:solidFill>
                <a:latin typeface="Aptos"/>
              </a:defRPr>
            </a:pPr>
            <a:r>
              <a:t>05 — FINDING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Income and requested loan size move together</a:t>
            </a:r>
          </a:p>
        </p:txBody>
      </p:sp>
      <p:sp>
        <p:nvSpPr>
          <p:cNvPr id="5" name="Oval 4"/>
          <p:cNvSpPr/>
          <p:nvPr/>
        </p:nvSpPr>
        <p:spPr>
          <a:xfrm>
            <a:off x="1668776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6386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97606" y="403519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92068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0942" y="50169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0596" y="44581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468" y="516044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79129" y="449586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45380" y="349145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73847" y="467711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1744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40991" y="43825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39515" y="530392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6035" y="435238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5455" y="466956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57546" y="461669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45710" y="40956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9557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88865" y="334041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67490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0098" y="52435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85062" y="484325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54551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29007" y="341593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41936" y="44883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46105" y="454873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40470" y="35292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32530" y="517554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84872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1862" y="503960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954813" y="415602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05840" y="44581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620255" y="44127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363881" y="484325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24245" y="42768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867803" y="42088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528723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92718" y="47299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44622" y="45638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2812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28914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56458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84929" y="40956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33575" y="497164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185762" y="42088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51402" y="43825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359008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603165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204831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331040" y="466956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4899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850357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578303" y="491122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9493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389518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972188" y="459404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821965" y="42768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456896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333158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005241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509442" y="417868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219803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408164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834042" y="45638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452659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86750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081094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059270" y="418623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45433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402443" y="511512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698015" y="455628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726831" y="38539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222417" y="45185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43796" y="443545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634028" y="420134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803531" y="52284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038718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141268" y="42088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501815" y="437503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333158" y="448076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246995" y="36651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400960" y="461669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133924" y="483570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619620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6447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569192" y="502450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528512" y="40956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616653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321014" y="266074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911166" y="42088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815397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927693" y="467711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783191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052914" y="367270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887012" y="454873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516083" y="514533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905022" y="418623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400112" y="461669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36096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283367" y="47299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26145" y="52284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405198" y="479794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453506" y="40956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67892" y="47073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413037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410283" y="454873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701193" y="435993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461558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321717" y="490367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80817" y="483570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795480" y="468466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347003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229409" y="442034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392485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395027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353923" y="399743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18948" y="511512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756918" y="450342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497153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2345520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105320" y="334041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445667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834042" y="506981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045922" y="390681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07930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602881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432106" y="466956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75308" y="46091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486559" y="481305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223829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304343" y="49791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359008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410283" y="449586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503298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427869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321929" y="482815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458379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746748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2008207" y="455628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764194" y="36424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198759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150942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00813" y="410316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613475" y="455628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706914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020496" y="42466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354982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516223" y="44883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478720" y="472242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485500" y="506226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319810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2256106" y="398988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860315" y="460159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2226443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129614" y="452607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2237885" y="402764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84836" y="497164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639748" y="47299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30594" y="511512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632756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37367" y="432217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25940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772385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449480" y="489612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211963" y="500940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295444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406681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563895" y="452607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698863" y="440524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357525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475190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692718" y="461669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75089" y="511512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543343" y="452607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3701126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853111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999096" y="435993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80196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2134275" y="42995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769703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406681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665598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2399125" y="383129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8846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65691" y="306854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374899" y="46091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321929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875782" y="42466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442488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3145577" y="249459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692718" y="47299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472999" y="474508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219591" y="47375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143314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164926" y="494143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2301449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176579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71297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629154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111320" y="50169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522579" y="467711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2058634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37608" y="450342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49473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741874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57284" y="519064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095290" y="40956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97584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666233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040201" y="471487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25545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59658" y="471487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2578375" y="40049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866883" y="40049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703948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374687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657758" y="448076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70428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29359" y="44581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55208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96058" y="50471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372356" y="483570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991892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551606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554361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6689900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95896" y="45638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067110" y="491122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292689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517282" y="42768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2042743" y="472242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725988" y="483570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224464" y="479794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374899" y="510757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271290" y="481305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01822" y="481305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375958" y="481305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355830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98234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975154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2575621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292266" y="512268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76572" y="530392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236329" y="453362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275315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310275" y="461669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523638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580634" y="474508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62376" y="467711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268959" y="491122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071559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883198" y="446566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819846" y="499429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603305" y="431462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417063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337184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4448637" y="38388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328709" y="421644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916039" y="45638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566014" y="476018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2030878" y="472242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51628" y="523596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200098" y="485836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321081" y="485836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992740" y="40049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5710804" y="37935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750773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98403" y="489612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361550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834042" y="45185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679158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419605" y="42768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6636718" y="42088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351592" y="468466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516223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628519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2363741" y="468466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047409" y="213210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2310771" y="336307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492280" y="454873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795692" y="480549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512621" y="454117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3069936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657546" y="432217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727890" y="45109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149883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355406" y="494143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379984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021695" y="497164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829381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63662" y="49791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46923" y="472242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329768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5922" y="503960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791666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3632265" y="426930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027840" y="509247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1156027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265357" y="42466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5922" y="422399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274468" y="469221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902903" y="43825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238308" y="46091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582753" y="449586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075161" y="445055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341210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516223" y="448076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254975" y="459404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308229" y="435993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364305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431471" y="510002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467066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690176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1348626" y="44883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1179122" y="423910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1177215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06297" y="530392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1586778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1577879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138653" y="468466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673225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30045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1549699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1624069" y="452607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511845" y="334041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799718" y="431462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454566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191411" y="53416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65335" y="52586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519401" y="45109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272561" y="47073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667716" y="494898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869214" y="43825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036175" y="468466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204196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203064" y="499429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2659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909895" y="42768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222629" y="36424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591864" y="460159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064495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473423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049240" y="457138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293185" y="368780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118740" y="480549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882139" y="478284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40011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622798" y="44127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24755" y="41182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1670259" y="49640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986523" y="51528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1120431" y="503205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869426" y="44581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3169943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1396722" y="485836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1682760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488043" y="47375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567709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023251" y="44127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06117" y="486591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696108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747383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092463" y="510757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503722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728102" y="454117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493623" y="358963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272349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630638" y="44127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1628942" y="433727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5501467" y="29703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1283155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376382" y="478284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825427" y="40956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1451175" y="474508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1505629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1218743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200522" y="503205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492280" y="460159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749290" y="47375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079822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910391" y="322713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1412613" y="47299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1575973" y="476018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864129" y="446566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482394" y="416358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527240" y="468466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572582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692718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053337" y="40880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127847" y="50471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1450964" y="480549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551606" y="474508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3740959" y="31893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376806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5940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542919" y="45185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867167" y="421644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604364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1219591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095218" y="525106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965335" y="503960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1786793" y="459404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1451599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1179334" y="494143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1653732" y="527372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1690176" y="45185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746112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1786369" y="45185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213658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110685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1353075" y="476018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1434861" y="459404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893440" y="344614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277858" y="487346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245652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636146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645541" y="42466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773868" y="45185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1790819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98608" y="485836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740391" y="435993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504569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1339515" y="47299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643634" y="365760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1612416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734531" y="32497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1961170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1367907" y="457893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1786157" y="430706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1251373" y="487346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1198403" y="499429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1464312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1948457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1251373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2257801" y="42768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1309004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1975366" y="42466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1621950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1271713" y="476773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64276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147340" y="434482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2204831" y="360473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301800" y="52284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494399" y="457893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586778" y="485836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1435284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2271785" y="40200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2546381" y="42844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1698015" y="461669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2979040" y="418623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535927" y="499429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1332523" y="468466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1893792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1470880" y="457138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1086954" y="52284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344176" y="47375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1579786" y="461669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2056728" y="460159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2289371" y="446566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348982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2201653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1425114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1321717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114431" y="390681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2010538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2024734" y="397478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1055384" y="489612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1583176" y="457893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571735" y="455628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2085331" y="44581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2035540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526816" y="471487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546665" y="42088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611568" y="444300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1222134" y="49640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2090416" y="42844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2662068" y="365004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2222629" y="42466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339515" y="527372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2812290" y="457138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1083352" y="499429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1794632" y="414092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1239084" y="490367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5500196" y="281178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1623222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3500052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2289371" y="42315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1292266" y="50471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032713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1493975" y="483570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2946410" y="341593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1427869" y="497164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1900996" y="494143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3634807" y="377843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1649707" y="463180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1966467" y="42088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1604576" y="433727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1929388" y="42844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1459439" y="468466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2947893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1900996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3606627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2928612" y="390681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1662419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1786793" y="471487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1797387" y="44581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2398913" y="376332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940122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1146281" y="52284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728102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2477732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1529571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2619692" y="36802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1072123" y="486591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2137666" y="35292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1382526" y="469221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1646317" y="44127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2432178" y="503960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1913073" y="42315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1427869" y="476018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1679794" y="463180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930799" y="513023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2151862" y="40956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1217260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1203064" y="499429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2858056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1533173" y="494898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1613899" y="47299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1233151" y="484325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1251373" y="47299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1258577" y="483570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3348982" y="42466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1935532" y="510002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1431471" y="50547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1224888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918298" y="510757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1414732" y="51679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1721746" y="433727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2433238" y="418623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1491856" y="52435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2999380" y="436748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1735094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1274256" y="503205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1344812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1666233" y="432217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3016966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1361974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1777258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2787501" y="49791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1537410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1499908" y="435238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1302648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1427869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1286757" y="466956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1390790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1144162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1835313" y="519064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982074" y="516044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1181029" y="464690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2575621" y="398988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1448421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2106731" y="37935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1665174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1769207" y="457138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1480839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1622586" y="461669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1516223" y="506226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1869214" y="464690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927409" y="51528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1670047" y="47299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1677675" y="45185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2276447" y="42844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1781072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1145433" y="432217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1460074" y="45638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2140208" y="40200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1464948" y="44127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1812854" y="40956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1419817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1244169" y="528882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1682972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22417" y="349145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502238" y="454873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889131" y="432217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674285" y="36802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190563" y="468466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1264509" y="476018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1159205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749150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1408800" y="454873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292973" y="443545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056516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2114359" y="467711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2656771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2512693" y="476018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1856925" y="457138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1457956" y="467711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1235906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1634451" y="40880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1182936" y="45638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1463253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2525193" y="34990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899869" y="415602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1110049" y="36802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1737637" y="47375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1569192" y="489612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012801" y="331020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1501603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2646177" y="311385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1361338" y="459404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1194377" y="443545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1982358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1551395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2054821" y="446566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1748231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1758613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1181029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1396722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818435" y="457893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1450540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1482957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1283155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1429776" y="47375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1996554" y="404275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1389730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3546665" y="231335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1325531" y="466956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1829593" y="44127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1458379" y="476018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1153230" y="50169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1193530" y="519820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4835741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1772809" y="493388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1371509" y="485836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1665386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1330616" y="47375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2471376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1620255" y="455628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1389095" y="464690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1455413" y="459404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1604576" y="452607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1668140" y="430706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1657334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1913497" y="40956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1445455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2054609" y="446566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1503298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1459863" y="490367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1436768" y="481305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1516223" y="46091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1183148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1834042" y="454873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1606907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1360067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4743785" y="198106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2081306" y="42088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1074877" y="497164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1586567" y="476773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988006" y="51830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1674285" y="45185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1371297" y="440524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1524486" y="476773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1244381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1345024" y="494143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1207090" y="476018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2575621" y="443545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1424479" y="47375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1416851" y="466956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1556692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1760096" y="46091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3635019" y="334041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3348770" y="276646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1498636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2147200" y="421644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1894216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986523" y="510002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1765605" y="472242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1078691" y="486591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1057079" y="506981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2928612" y="42315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2574138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1714966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1961170" y="42768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1338244" y="506981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1353923" y="42995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960674" y="52586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1682124" y="44127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1129118" y="50471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1497789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1507112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1887648" y="44581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1569404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2769703" y="365004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2337256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2381327" y="388415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3193674" y="328000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1463041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1622162" y="481305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1077208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1264721" y="47299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2893440" y="435993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1277858" y="510002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1445455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2222629" y="40956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1457532" y="499429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2293185" y="382374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1957568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1737849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1902267" y="454117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1773868" y="460159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986523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1542496" y="466956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1796963" y="42844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3795836" y="519064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1555420" y="443545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4100307" y="273626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1526605" y="476773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1351592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1673013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3369322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1370026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1107083" y="506981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1599067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1692718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2612276" y="337062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1728102" y="442790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1975366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1424267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1233787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1292901" y="46091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1759037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1463253" y="457893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1619620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2399125" y="42088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2470529" y="35292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1452235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1223405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1410283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1253492" y="458649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1130602" y="506981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1408588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1636570" y="478284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1156027" y="482815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1068945" y="526616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1040553" y="511512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5224117" y="482815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2033421" y="414092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1420241" y="47375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1424479" y="47375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925714" y="510757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2215425" y="44581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1276163" y="513778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1782343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1748443" y="395967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1364940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1598008" y="426175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1091404" y="51528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1007711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5033425" y="380108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1261543" y="476018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1444819" y="45638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1691871" y="45638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1033137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1206666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346155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3609594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1932778" y="469221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432742" y="499429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1714330" y="460159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1078928" y="494898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1032501" y="51528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2284074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1834042" y="481305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3184987" y="254746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1466431" y="452607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1251373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2585579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1257094" y="522840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1164079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2663763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1970069" y="45638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2305262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2519261" y="42466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1876418" y="44883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3776131" y="428441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1447573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1442488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1498213" y="519064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1526816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1370237" y="417113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1211963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1180181" y="51528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1660513" y="448076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1505417" y="492633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1957992" y="497164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1274468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1368119" y="471487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1786793" y="42995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1379348" y="457893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2222629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1763274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2096773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1559234" y="445055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1556692" y="46091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1339515" y="486591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1728102" y="454873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1433801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3993520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1119372" y="486591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1894216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1628307" y="43825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1336760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1450752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986523" y="490367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2613759" y="43825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4172982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2247207" y="38690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1462193" y="46091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4464952" y="495653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1420877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1378501" y="444300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1112592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1565590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752117" y="38388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2222417" y="37482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1387823" y="461669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1208361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1869214" y="439769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972751" y="503960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1618772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1826414" y="420134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xfrm>
            <a:off x="1238872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4114503" y="390681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1675980" y="470732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xfrm>
            <a:off x="1354982" y="481305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1367907" y="479794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2042108" y="476773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1070216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2723725" y="402764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1373839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1126152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2679230" y="403519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xfrm>
            <a:off x="2438323" y="456383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1579151" y="466956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2136182" y="377087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Oval 849"/>
          <p:cNvSpPr/>
          <p:nvPr/>
        </p:nvSpPr>
        <p:spPr>
          <a:xfrm>
            <a:off x="6283515" y="198106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xfrm>
            <a:off x="1215989" y="488101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1620467" y="418623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Oval 852"/>
          <p:cNvSpPr/>
          <p:nvPr/>
        </p:nvSpPr>
        <p:spPr>
          <a:xfrm>
            <a:off x="3266772" y="530392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Oval 853"/>
          <p:cNvSpPr/>
          <p:nvPr/>
        </p:nvSpPr>
        <p:spPr>
          <a:xfrm>
            <a:off x="1491856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Oval 854"/>
          <p:cNvSpPr/>
          <p:nvPr/>
        </p:nvSpPr>
        <p:spPr>
          <a:xfrm>
            <a:off x="2166481" y="371801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xfrm>
            <a:off x="1583600" y="44883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xfrm>
            <a:off x="2320518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xfrm>
            <a:off x="2465655" y="325734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xfrm>
            <a:off x="1917523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xfrm>
            <a:off x="1232939" y="475263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xfrm>
            <a:off x="1489526" y="467711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xfrm>
            <a:off x="1854806" y="420889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xfrm>
            <a:off x="1177215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Oval 863"/>
          <p:cNvSpPr/>
          <p:nvPr/>
        </p:nvSpPr>
        <p:spPr>
          <a:xfrm>
            <a:off x="1290359" y="526616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Oval 864"/>
          <p:cNvSpPr/>
          <p:nvPr/>
        </p:nvSpPr>
        <p:spPr>
          <a:xfrm>
            <a:off x="986523" y="519064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Oval 865"/>
          <p:cNvSpPr/>
          <p:nvPr/>
        </p:nvSpPr>
        <p:spPr>
          <a:xfrm>
            <a:off x="1961382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xfrm>
            <a:off x="3659173" y="198106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Oval 867"/>
          <p:cNvSpPr/>
          <p:nvPr/>
        </p:nvSpPr>
        <p:spPr>
          <a:xfrm>
            <a:off x="1890614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Oval 868"/>
          <p:cNvSpPr/>
          <p:nvPr/>
        </p:nvSpPr>
        <p:spPr>
          <a:xfrm>
            <a:off x="4164718" y="258522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Oval 869"/>
          <p:cNvSpPr/>
          <p:nvPr/>
        </p:nvSpPr>
        <p:spPr>
          <a:xfrm>
            <a:off x="1256670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Oval 870"/>
          <p:cNvSpPr/>
          <p:nvPr/>
        </p:nvSpPr>
        <p:spPr>
          <a:xfrm>
            <a:off x="1879596" y="439014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Oval 871"/>
          <p:cNvSpPr/>
          <p:nvPr/>
        </p:nvSpPr>
        <p:spPr>
          <a:xfrm>
            <a:off x="1300317" y="489612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Oval 872"/>
          <p:cNvSpPr/>
          <p:nvPr/>
        </p:nvSpPr>
        <p:spPr>
          <a:xfrm>
            <a:off x="1894004" y="462425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Oval 873"/>
          <p:cNvSpPr/>
          <p:nvPr/>
        </p:nvSpPr>
        <p:spPr>
          <a:xfrm>
            <a:off x="1839339" y="397478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Oval 874"/>
          <p:cNvSpPr/>
          <p:nvPr/>
        </p:nvSpPr>
        <p:spPr>
          <a:xfrm>
            <a:off x="1363881" y="485081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Oval 875"/>
          <p:cNvSpPr/>
          <p:nvPr/>
        </p:nvSpPr>
        <p:spPr>
          <a:xfrm>
            <a:off x="1217048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Oval 876"/>
          <p:cNvSpPr/>
          <p:nvPr/>
        </p:nvSpPr>
        <p:spPr>
          <a:xfrm>
            <a:off x="2840470" y="412582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Oval 877"/>
          <p:cNvSpPr/>
          <p:nvPr/>
        </p:nvSpPr>
        <p:spPr>
          <a:xfrm>
            <a:off x="4305618" y="466201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Oval 878"/>
          <p:cNvSpPr/>
          <p:nvPr/>
        </p:nvSpPr>
        <p:spPr>
          <a:xfrm>
            <a:off x="1429776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Oval 879"/>
          <p:cNvSpPr/>
          <p:nvPr/>
        </p:nvSpPr>
        <p:spPr>
          <a:xfrm>
            <a:off x="2583884" y="31591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Oval 880"/>
          <p:cNvSpPr/>
          <p:nvPr/>
        </p:nvSpPr>
        <p:spPr>
          <a:xfrm>
            <a:off x="1223193" y="479794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Oval 881"/>
          <p:cNvSpPr/>
          <p:nvPr/>
        </p:nvSpPr>
        <p:spPr>
          <a:xfrm>
            <a:off x="1188445" y="510757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Oval 882"/>
          <p:cNvSpPr/>
          <p:nvPr/>
        </p:nvSpPr>
        <p:spPr>
          <a:xfrm>
            <a:off x="1816456" y="442034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xfrm>
            <a:off x="2035963" y="454873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xfrm>
            <a:off x="1230609" y="488857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xfrm>
            <a:off x="1466007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xfrm>
            <a:off x="1236541" y="483570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xfrm>
            <a:off x="1456472" y="443545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xfrm>
            <a:off x="1168316" y="50018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xfrm>
            <a:off x="1369814" y="45109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1516223" y="482815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xfrm>
            <a:off x="1474058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Oval 892"/>
          <p:cNvSpPr/>
          <p:nvPr/>
        </p:nvSpPr>
        <p:spPr>
          <a:xfrm>
            <a:off x="1862222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1488043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Oval 894"/>
          <p:cNvSpPr/>
          <p:nvPr/>
        </p:nvSpPr>
        <p:spPr>
          <a:xfrm>
            <a:off x="1851628" y="44127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xfrm>
            <a:off x="1471092" y="423910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2121986" y="46091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Oval 897"/>
          <p:cNvSpPr/>
          <p:nvPr/>
        </p:nvSpPr>
        <p:spPr>
          <a:xfrm>
            <a:off x="1366212" y="497164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Oval 898"/>
          <p:cNvSpPr/>
          <p:nvPr/>
        </p:nvSpPr>
        <p:spPr>
          <a:xfrm>
            <a:off x="2605072" y="36424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1845907" y="438258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Oval 900"/>
          <p:cNvSpPr/>
          <p:nvPr/>
        </p:nvSpPr>
        <p:spPr>
          <a:xfrm>
            <a:off x="1831076" y="423154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xfrm>
            <a:off x="1286757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2146988" y="401254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1685726" y="460914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xfrm>
            <a:off x="2321153" y="365760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1403291" y="469977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Oval 906"/>
          <p:cNvSpPr/>
          <p:nvPr/>
        </p:nvSpPr>
        <p:spPr>
          <a:xfrm>
            <a:off x="1163019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xfrm>
            <a:off x="1706914" y="467711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xfrm>
            <a:off x="1564955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Oval 909"/>
          <p:cNvSpPr/>
          <p:nvPr/>
        </p:nvSpPr>
        <p:spPr>
          <a:xfrm>
            <a:off x="1551606" y="4201341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1848238" y="435993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xfrm>
            <a:off x="3988011" y="35292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Oval 912"/>
          <p:cNvSpPr/>
          <p:nvPr/>
        </p:nvSpPr>
        <p:spPr>
          <a:xfrm>
            <a:off x="2098892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Oval 913"/>
          <p:cNvSpPr/>
          <p:nvPr/>
        </p:nvSpPr>
        <p:spPr>
          <a:xfrm>
            <a:off x="1814125" y="447321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xfrm>
            <a:off x="1223829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Oval 915"/>
          <p:cNvSpPr/>
          <p:nvPr/>
        </p:nvSpPr>
        <p:spPr>
          <a:xfrm>
            <a:off x="1579151" y="457893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Oval 916"/>
          <p:cNvSpPr/>
          <p:nvPr/>
        </p:nvSpPr>
        <p:spPr>
          <a:xfrm>
            <a:off x="1721322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1307309" y="479794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Oval 918"/>
          <p:cNvSpPr/>
          <p:nvPr/>
        </p:nvSpPr>
        <p:spPr>
          <a:xfrm>
            <a:off x="1749078" y="439014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Oval 919"/>
          <p:cNvSpPr/>
          <p:nvPr/>
        </p:nvSpPr>
        <p:spPr>
          <a:xfrm>
            <a:off x="1842517" y="405785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xfrm>
            <a:off x="1127635" y="533413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Oval 921"/>
          <p:cNvSpPr/>
          <p:nvPr/>
        </p:nvSpPr>
        <p:spPr>
          <a:xfrm>
            <a:off x="1453506" y="450342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Oval 922"/>
          <p:cNvSpPr/>
          <p:nvPr/>
        </p:nvSpPr>
        <p:spPr>
          <a:xfrm>
            <a:off x="1999944" y="430706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1265993" y="482060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Oval 924"/>
          <p:cNvSpPr/>
          <p:nvPr/>
        </p:nvSpPr>
        <p:spPr>
          <a:xfrm>
            <a:off x="915544" y="507736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Oval 925"/>
          <p:cNvSpPr/>
          <p:nvPr/>
        </p:nvSpPr>
        <p:spPr>
          <a:xfrm>
            <a:off x="1463253" y="489612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xfrm>
            <a:off x="1034408" y="480549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Oval 927"/>
          <p:cNvSpPr/>
          <p:nvPr/>
        </p:nvSpPr>
        <p:spPr>
          <a:xfrm>
            <a:off x="1816244" y="51830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Oval 928"/>
          <p:cNvSpPr/>
          <p:nvPr/>
        </p:nvSpPr>
        <p:spPr>
          <a:xfrm>
            <a:off x="1728102" y="405785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xfrm>
            <a:off x="2439382" y="340083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Oval 930"/>
          <p:cNvSpPr/>
          <p:nvPr/>
        </p:nvSpPr>
        <p:spPr>
          <a:xfrm>
            <a:off x="1973671" y="453362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Oval 931"/>
          <p:cNvSpPr/>
          <p:nvPr/>
        </p:nvSpPr>
        <p:spPr>
          <a:xfrm>
            <a:off x="3872324" y="364249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xfrm>
            <a:off x="1268959" y="4775290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Oval 933"/>
          <p:cNvSpPr/>
          <p:nvPr/>
        </p:nvSpPr>
        <p:spPr>
          <a:xfrm>
            <a:off x="2021132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Oval 934"/>
          <p:cNvSpPr/>
          <p:nvPr/>
        </p:nvSpPr>
        <p:spPr>
          <a:xfrm>
            <a:off x="1089709" y="494143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xfrm>
            <a:off x="2567781" y="4246653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Oval 936"/>
          <p:cNvSpPr/>
          <p:nvPr/>
        </p:nvSpPr>
        <p:spPr>
          <a:xfrm>
            <a:off x="1681489" y="415602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Oval 937"/>
          <p:cNvSpPr/>
          <p:nvPr/>
        </p:nvSpPr>
        <p:spPr>
          <a:xfrm>
            <a:off x="1661572" y="4435452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xfrm>
            <a:off x="1665174" y="463935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2146988" y="430706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1770478" y="46544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1706914" y="4299516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Oval 942"/>
          <p:cNvSpPr/>
          <p:nvPr/>
        </p:nvSpPr>
        <p:spPr>
          <a:xfrm>
            <a:off x="1600551" y="442034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Oval 943"/>
          <p:cNvSpPr/>
          <p:nvPr/>
        </p:nvSpPr>
        <p:spPr>
          <a:xfrm>
            <a:off x="1554785" y="4790394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1071275" y="5069817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Oval 945"/>
          <p:cNvSpPr/>
          <p:nvPr/>
        </p:nvSpPr>
        <p:spPr>
          <a:xfrm>
            <a:off x="1326802" y="5303928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Oval 946"/>
          <p:cNvSpPr/>
          <p:nvPr/>
        </p:nvSpPr>
        <p:spPr>
          <a:xfrm>
            <a:off x="2217968" y="369535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xfrm>
            <a:off x="2063508" y="4193789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1427869" y="4601595"/>
            <a:ext cx="54864" cy="54864"/>
          </a:xfrm>
          <a:prstGeom prst="ellipse">
            <a:avLst/>
          </a:prstGeom>
          <a:solidFill>
            <a:srgbClr val="2D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Rounded Rectangle 949"/>
          <p:cNvSpPr/>
          <p:nvPr/>
        </p:nvSpPr>
        <p:spPr>
          <a:xfrm>
            <a:off x="7909560" y="1691640"/>
            <a:ext cx="3429000" cy="3474720"/>
          </a:xfrm>
          <a:prstGeom prst="roundRect">
            <a:avLst/>
          </a:prstGeom>
          <a:solidFill>
            <a:srgbClr val="1E2B46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TextBox 950"/>
          <p:cNvSpPr txBox="1"/>
          <p:nvPr/>
        </p:nvSpPr>
        <p:spPr>
          <a:xfrm>
            <a:off x="8275320" y="205740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2DBED2"/>
                </a:solidFill>
                <a:latin typeface="Aptos"/>
              </a:defRPr>
            </a:pPr>
            <a:r>
              <a:t>0.60</a:t>
            </a:r>
          </a:p>
        </p:txBody>
      </p:sp>
      <p:sp>
        <p:nvSpPr>
          <p:cNvPr id="952" name="TextBox 951"/>
          <p:cNvSpPr txBox="1"/>
          <p:nvPr/>
        </p:nvSpPr>
        <p:spPr>
          <a:xfrm>
            <a:off x="8275320" y="29260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BECDE1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8275320" y="352044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A moderate positive relationship: higher-income applicants tend to request larger loans.</a:t>
            </a:r>
          </a:p>
        </p:txBody>
      </p:sp>
      <p:sp>
        <p:nvSpPr>
          <p:cNvPr id="954" name="TextBox 953"/>
          <p:cNvSpPr txBox="1"/>
          <p:nvPr/>
        </p:nvSpPr>
        <p:spPr>
          <a:xfrm>
            <a:off x="914400" y="56692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ECDE1"/>
                </a:solidFill>
                <a:latin typeface="Aptos"/>
              </a:defRPr>
            </a:pPr>
            <a:r>
              <a:t>Total income →</a:t>
            </a:r>
          </a:p>
        </p:txBody>
      </p:sp>
      <p:sp>
        <p:nvSpPr>
          <p:cNvPr id="955" name="TextBox 954"/>
          <p:cNvSpPr txBox="1"/>
          <p:nvPr/>
        </p:nvSpPr>
        <p:spPr>
          <a:xfrm>
            <a:off x="5715000" y="16916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ECDE1"/>
                </a:solidFill>
                <a:latin typeface="Aptos"/>
              </a:defRPr>
            </a:pPr>
            <a:r>
              <a:t>Loan amount ↑</a:t>
            </a:r>
          </a:p>
        </p:txBody>
      </p:sp>
      <p:sp>
        <p:nvSpPr>
          <p:cNvPr id="956" name="TextBox 95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87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67DC"/>
                </a:solidFill>
                <a:latin typeface="Aptos"/>
              </a:defRPr>
            </a:pPr>
            <a:r>
              <a:t>06 — FINDING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C30"/>
                </a:solidFill>
                <a:latin typeface="Aptos"/>
              </a:defRPr>
            </a:pPr>
            <a:r>
              <a:t>One loan term dominates the portfolio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3337560" cy="3337560"/>
          </a:xfrm>
          <a:prstGeom prst="ellipse">
            <a:avLst/>
          </a:prstGeom>
          <a:solidFill>
            <a:srgbClr val="F5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81328" y="2350008"/>
            <a:ext cx="2203704" cy="2203704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337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800" b="1">
                <a:solidFill>
                  <a:srgbClr val="121C30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C687D"/>
                </a:solidFill>
                <a:latin typeface="Aptos"/>
              </a:defRPr>
            </a:pPr>
            <a:r>
              <a:t>360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65960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1C30"/>
                </a:solidFill>
                <a:latin typeface="Aptos"/>
              </a:defRPr>
            </a:pPr>
            <a:r>
              <a:t>The 360-month term is the dominant requested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926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973E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291840"/>
            <a:ext cx="5852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C687D"/>
                </a:solidFill>
                <a:latin typeface="Aptos"/>
              </a:defRPr>
            </a:pPr>
            <a:r>
              <a:t>Is this concentration driven by product design, customer preference, or both?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251960"/>
            <a:ext cx="5852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AAA70"/>
                </a:solidFill>
                <a:latin typeface="Aptos"/>
              </a:defRPr>
            </a:pPr>
            <a:r>
              <a:t>Potential action: review whether the 360-month product should remain the default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67DC"/>
                </a:solidFill>
                <a:latin typeface="Aptos"/>
              </a:defRPr>
            </a:pPr>
            <a:r>
              <a:t>07 — FINDING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C30"/>
                </a:solidFill>
                <a:latin typeface="Aptos"/>
              </a:defRPr>
            </a:pPr>
            <a:r>
              <a:t>The applicant pool spans all property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21C30"/>
                </a:solidFill>
                <a:latin typeface="Aptos"/>
              </a:defRPr>
            </a:pPr>
            <a:r>
              <a:t>Urban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901951"/>
            <a:ext cx="6400800" cy="384048"/>
          </a:xfrm>
          <a:prstGeom prst="roundRect">
            <a:avLst/>
          </a:prstGeom>
          <a:solidFill>
            <a:srgbClr val="E7EBF3"/>
          </a:solidFill>
          <a:ln>
            <a:solidFill>
              <a:srgbClr val="E7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1901951"/>
            <a:ext cx="2231471" cy="384048"/>
          </a:xfrm>
          <a:prstGeom prst="round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847088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467DC"/>
                </a:solidFill>
                <a:latin typeface="Aptos"/>
              </a:defRPr>
            </a:pPr>
            <a: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79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21C30"/>
                </a:solidFill>
                <a:latin typeface="Aptos"/>
              </a:defRPr>
            </a:pPr>
            <a:r>
              <a:t>Semiurban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2953511"/>
            <a:ext cx="6400800" cy="384048"/>
          </a:xfrm>
          <a:prstGeom prst="roundRect">
            <a:avLst/>
          </a:prstGeom>
          <a:solidFill>
            <a:srgbClr val="E7EBF3"/>
          </a:solidFill>
          <a:ln>
            <a:solidFill>
              <a:srgbClr val="E7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3120" y="2953511"/>
            <a:ext cx="2277144" cy="384048"/>
          </a:xfrm>
          <a:prstGeom prst="roundRect">
            <a:avLst/>
          </a:prstGeom>
          <a:solidFill>
            <a:srgbClr val="7D5BDC"/>
          </a:solidFill>
          <a:ln>
            <a:solidFill>
              <a:srgbClr val="7D5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2898648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7D5BDC"/>
                </a:solidFill>
                <a:latin typeface="Aptos"/>
              </a:defRPr>
            </a:pPr>
            <a:r>
              <a:t>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21C30"/>
                </a:solidFill>
                <a:latin typeface="Aptos"/>
              </a:defRPr>
            </a:pPr>
            <a:r>
              <a:t>Rural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4005072"/>
            <a:ext cx="6400800" cy="384048"/>
          </a:xfrm>
          <a:prstGeom prst="roundRect">
            <a:avLst/>
          </a:prstGeom>
          <a:solidFill>
            <a:srgbClr val="E7EBF3"/>
          </a:solidFill>
          <a:ln>
            <a:solidFill>
              <a:srgbClr val="E7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03120" y="4005072"/>
            <a:ext cx="1892183" cy="384048"/>
          </a:xfrm>
          <a:prstGeom prst="roundRect">
            <a:avLst/>
          </a:prstGeom>
          <a:solidFill>
            <a:srgbClr val="2AAA70"/>
          </a:solidFill>
          <a:ln>
            <a:solidFill>
              <a:srgbClr val="2A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3950207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AAA70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21C30"/>
                </a:solidFill>
                <a:latin typeface="Aptos"/>
              </a:defRPr>
            </a:pPr>
            <a:r>
              <a:t>The customer base is geographically distributed rather than concentrated in a single property 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0"/>
          </a:solidFill>
          <a:ln>
            <a:solidFill>
              <a:srgbClr val="12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DBED2"/>
                </a:solidFill>
                <a:latin typeface="Aptos"/>
              </a:defRPr>
            </a:pPr>
            <a:r>
              <a:t>08 — BUSINESS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Build a better first-pass screening layer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34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27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Income + loan amount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27632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3D0E6"/>
                </a:solidFill>
                <a:latin typeface="Aptos"/>
              </a:defRPr>
            </a:pPr>
            <a:r>
              <a:t>Check whether the requested size fits the applicant's income profile.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F5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70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Loan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70632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3D0E6"/>
                </a:solidFill>
                <a:latin typeface="Aptos"/>
              </a:defRPr>
            </a:pPr>
            <a:r>
              <a:t>Review the strong concentration around 360 months.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7D5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59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13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Credit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13632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3D0E6"/>
                </a:solidFill>
                <a:latin typeface="Aptos"/>
              </a:defRPr>
            </a:pPr>
            <a:r>
              <a:t>Use as an input, while separating observed vs. imputed values.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rgbClr val="2A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66359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56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056632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3D0E6"/>
                </a:solidFill>
                <a:latin typeface="Aptos"/>
              </a:defRPr>
            </a:pPr>
            <a:r>
              <a:t>Use the output to support screening — not automatic approval/rejection.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67DC"/>
                </a:solidFill>
                <a:latin typeface="Aptos"/>
              </a:defRPr>
            </a:pPr>
            <a:r>
              <a:t>09 —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C30"/>
                </a:solidFill>
                <a:latin typeface="Aptos"/>
              </a:defRPr>
            </a:pPr>
            <a:r>
              <a:t>What the dataset cannot tell 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973E"/>
                </a:solidFill>
                <a:latin typeface="Aptos"/>
              </a:defRPr>
            </a:pPr>
            <a:r>
              <a:t>NOT IN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1C30"/>
                </a:solidFill>
                <a:latin typeface="Aptos"/>
              </a:defRPr>
            </a:pPr>
            <a:r>
              <a:t>Loan approval outcome</a:t>
            </a:r>
            <a:br/>
            <a:r>
              <a:t>Repayment performance</a:t>
            </a:r>
            <a:br/>
            <a:r>
              <a:t>Delinquency /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87D"/>
                </a:solidFill>
                <a:latin typeface="Aptos"/>
              </a:defRPr>
            </a:pPr>
            <a:r>
              <a:t>So we cannot claim which applicant characteristics cause good or bad credit outcomes.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3566160"/>
          </a:xfrm>
          <a:prstGeom prst="roundRect">
            <a:avLst/>
          </a:prstGeom>
          <a:solidFill>
            <a:srgbClr val="121C30"/>
          </a:solidFill>
          <a:ln>
            <a:solidFill>
              <a:srgbClr val="12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DBED2"/>
                </a:solidFill>
                <a:latin typeface="Aptos"/>
              </a:defRPr>
            </a:pPr>
            <a:r>
              <a:t>NEXT DATA TO ADD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6032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Loan_Status</a:t>
            </a:r>
            <a:br/>
            <a:r>
              <a:t>Repayment history</a:t>
            </a:r>
            <a:br/>
            <a:r>
              <a:t>Default / delinquency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251960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3D0E6"/>
                </a:solidFill>
                <a:latin typeface="Aptos"/>
              </a:defRPr>
            </a:pPr>
            <a:r>
              <a:t>That would allow the business to test actual credit-risk relationships.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67DC"/>
                </a:solidFill>
                <a:latin typeface="Aptos"/>
              </a:defRPr>
            </a:pPr>
            <a:r>
              <a:t>10 —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1C30"/>
                </a:solidFill>
                <a:latin typeface="Aptos"/>
              </a:defRPr>
            </a:pPr>
            <a:r>
              <a:t>Data → insight → business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3154680"/>
          </a:xfrm>
          <a:prstGeom prst="round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3337560" cy="118872"/>
          </a:xfrm>
          <a:prstGeom prst="rect">
            <a:avLst/>
          </a:prstGeom>
          <a:solidFill>
            <a:srgbClr val="3467DC"/>
          </a:solidFill>
          <a:ln>
            <a:solidFill>
              <a:srgbClr val="34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467D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743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21C30"/>
                </a:solidFill>
                <a:latin typeface="Aptos"/>
              </a:defRPr>
            </a:pPr>
            <a:r>
              <a:t>981 cleaned applicants</a:t>
            </a:r>
            <a:br/>
            <a:r>
              <a:t>Income, loan amount,</a:t>
            </a:r>
            <a:br/>
            <a:r>
              <a:t>term, credit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9260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3467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337560" cy="3154680"/>
          </a:xfrm>
          <a:prstGeom prst="round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3337560" cy="118872"/>
          </a:xfrm>
          <a:prstGeom prst="rect">
            <a:avLst/>
          </a:prstGeom>
          <a:solidFill>
            <a:srgbClr val="7D5BDC"/>
          </a:solidFill>
          <a:ln>
            <a:solidFill>
              <a:srgbClr val="7D5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402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7D5BDC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788920"/>
            <a:ext cx="2743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21C30"/>
                </a:solidFill>
                <a:latin typeface="Aptos"/>
              </a:defRPr>
            </a:pPr>
            <a:r>
              <a:t>Income ↔ loan: 0.60</a:t>
            </a:r>
            <a:br/>
            <a:r>
              <a:t>360-month term: 86%</a:t>
            </a:r>
            <a:br/>
            <a:r>
              <a:t>Typical loan: 126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9260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7D5B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828800"/>
            <a:ext cx="3337560" cy="3154680"/>
          </a:xfrm>
          <a:prstGeom prst="round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828800"/>
            <a:ext cx="3337560" cy="118872"/>
          </a:xfrm>
          <a:prstGeom prst="rect">
            <a:avLst/>
          </a:prstGeom>
          <a:solidFill>
            <a:srgbClr val="2AAA70"/>
          </a:solidFill>
          <a:ln>
            <a:solidFill>
              <a:srgbClr val="2A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2402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AA70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788920"/>
            <a:ext cx="2743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21C30"/>
                </a:solidFill>
                <a:latin typeface="Aptos"/>
              </a:defRPr>
            </a:pPr>
            <a:r>
              <a:t>Use these variables</a:t>
            </a:r>
            <a:br/>
            <a:r>
              <a:t>in an initial loan-sizing</a:t>
            </a:r>
            <a:br/>
            <a:r>
              <a:t>and screening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8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C687D"/>
                </a:solidFill>
                <a:latin typeface="Aptos"/>
              </a:defRPr>
            </a:pPr>
            <a:r>
              <a:t>The analysis supports a smarter screening conversation — not a final credit-risk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0"/>
          </a:solidFill>
          <a:ln>
            <a:solidFill>
              <a:srgbClr val="12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BED2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046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Use the data to size the conversation,</a:t>
            </a:r>
            <a:br/>
            <a:r>
              <a:t>not to replace the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004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D5EB"/>
                </a:solidFill>
                <a:latin typeface="Aptos"/>
              </a:defRPr>
            </a:pPr>
            <a:r>
              <a:t>Income, requested amount, term and credit-history quality can strengthen an initial screening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143000"/>
            <a:ext cx="2560320" cy="2560320"/>
          </a:xfrm>
          <a:prstGeom prst="roundRect">
            <a:avLst/>
          </a:prstGeom>
          <a:solidFill>
            <a:srgbClr val="2DBED2"/>
          </a:solidFill>
          <a:ln>
            <a:solidFill>
              <a:srgbClr val="2D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417320"/>
            <a:ext cx="25603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1C30"/>
                </a:solidFill>
                <a:latin typeface="Aptos"/>
              </a:defRPr>
            </a:pPr>
            <a:r>
              <a:t>DATA</a:t>
            </a:r>
            <a:br/>
            <a:r>
              <a:t>→</a:t>
            </a:r>
            <a:br/>
            <a:r>
              <a:t>INSIGHT</a:t>
            </a:r>
            <a:br/>
            <a:r>
              <a:t>→</a:t>
            </a:r>
            <a:br/>
            <a:r>
              <a:t>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
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0.3927</c:v>
                </c:pt>
                <c:pt idx="1">
                  <c:v>0.5049</c:v>
                </c:pt>
                <c:pt idx="2">
                  <c:v>0.5966</c:v>
                </c:pt>
                <c:pt idx="3">
                  <c:v>0.5624</c:v>
                </c:pt>
                <c:pt idx="4">
                  <c:v>0.5322</c:v>
                </c:pt>
                <c:pt idx="5">
                  <c:v>0.5347</c:v>
                </c:pt>
                <c:pt idx="6">
                  <c:v>0.4747</c:v>
                </c:pt>
                <c:pt idx="7">
                  <c:v>0.4889</c:v>
                </c:pt>
                <c:pt idx="8">
                  <c:v>0.5095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 (number of clusters)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Loyal Regulars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Order Value</c:v>
                  </c:pt>
                  <c:pt idx="1">
                    <c:v>Frequency</c:v>
                  </c:pt>
                  <c:pt idx="2">
                    <c:v>Categories</c:v>
                  </c:pt>
                  <c:pt idx="3">
                    <c:v>Discount 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-0.58</c:v>
                </c:pt>
                <c:pt idx="1">
                  <c:v>1.715</c:v>
                </c:pt>
                <c:pt idx="2">
                  <c:v>1.466</c:v>
                </c:pt>
                <c:pt idx="3">
                  <c:v>-0.251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3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2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Big-Ticket Occasionals</c:v>
                </c:pt>
              </c:strCache>
            </c:strRef>
          </c:tx>
          <c:spPr>
            <a:solidFill>
              <a:srgbClr val="B886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Order Value</c:v>
                  </c:pt>
                  <c:pt idx="1">
                    <c:v>Frequency</c:v>
                  </c:pt>
                  <c:pt idx="2">
                    <c:v>Categories</c:v>
                  </c:pt>
                  <c:pt idx="3">
                    <c:v>Discount 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1.725</c:v>
                </c:pt>
                <c:pt idx="1">
                  <c:v>-0.595</c:v>
                </c:pt>
                <c:pt idx="2">
                  <c:v>-0.063</c:v>
                </c:pt>
                <c:pt idx="3">
                  <c:v>-0.633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3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2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Dormant / Low-Engagement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Order Value</c:v>
                  </c:pt>
                  <c:pt idx="1">
                    <c:v>Frequency</c:v>
                  </c:pt>
                  <c:pt idx="2">
                    <c:v>Categories</c:v>
                  </c:pt>
                  <c:pt idx="3">
                    <c:v>Discount 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-0.702</c:v>
                </c:pt>
                <c:pt idx="1">
                  <c:v>-0.754</c:v>
                </c:pt>
                <c:pt idx="2">
                  <c:v>-1.359</c:v>
                </c:pt>
                <c:pt idx="3">
                  <c:v>-0.812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3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2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 Seekers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0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Order Value</c:v>
                  </c:pt>
                  <c:pt idx="1">
                    <c:v>Frequency</c:v>
                  </c:pt>
                  <c:pt idx="2">
                    <c:v>Categories</c:v>
                  </c:pt>
                  <c:pt idx="3">
                    <c:v>Discount 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-0.442</c:v>
                </c:pt>
                <c:pt idx="1">
                  <c:v>-0.366</c:v>
                </c:pt>
                <c:pt idx="2">
                  <c:v>-0.044</c:v>
                </c:pt>
                <c:pt idx="3">
                  <c:v>1.696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230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2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UrbanCart's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data-driven shopper groups to replace one-size-fits-all campaigns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709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Adeyemi Tobiloba Moses (Tobi)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Are there genuinely different kinds of shoppers in UrbanCart's active customer base — and how many?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milestone-3-customer-segments.csv  •  20,000 active customers  •  4 behavioral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running the same one-size-fits-all campaigns for everyone, and it's not working. We suspect there are genuinely different kinds of shoppers in our base — but we don't know how many groups there really are. Can you find that structure for us?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Marketing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answer column to learn from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76479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Churned, Segment, or Label field — so this isn't a prediction problem. It's a discovery problem: let the data reveal its own structure.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92608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campaign can't fit every shopper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27355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frequent small-basket buyer and a rare big-spender respond to completely different messages. Treating them the same wastes budget on both.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44348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needs a number, not a hunch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78231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groups" has to be justified with an objective method — not picked because it feels right.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Found and Validated the Groups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6245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features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01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AvgOrderValue ranges into the hundreds while AvgDiscountUsed sits below 1 — StandardScaler puts all four features on equal footing before any distance is measured.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6090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k = 2 through 10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9981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was fit at every candidate group count, scoring each with silhouette (separation) and Davies-Bouldin (compactness).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9593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metrics pick k, not a guess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9826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peaked independently at the same value — the strongest kind of objective agreement.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126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257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 with a second algorithm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6967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Mixture Model was fit at the same k. Its labels matched K-Means almost exactly, confirming the groups are real, not a K-Means artifact.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by number of groups (k)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577840" y="155448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7818120" y="489204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F7F8F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01000" y="49560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wins on both metrics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silhouette (0.597) and lowest Davies-Bouldin (0.542). GMM cross-check: 97.7% label agreement (ARI).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29.0%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of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Regulars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 of active customers  •  n = 5,803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the average customer (standardized)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1874520"/>
            <a:ext cx="4480560" cy="36576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52360" y="21031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more often than any other group — about 12 orders on average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purchases across the widest range of categories (~3)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individual order values modest (~$35) and rarely lean on discounts (~10%)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4434840"/>
            <a:ext cx="39319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Engaged, habitual shoppers who come back on their own — not because of a promotion.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29.5%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of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Big-Ticket Occasionals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 of active customers  •  n = 5,898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the average customer (standardized)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1874520"/>
            <a:ext cx="4480560" cy="36576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52360" y="21031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order value by far — around $200 per order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rarely, about twice on average, sticking to one or two categories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touch discounts (~5% average) — they pay full price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4434840"/>
            <a:ext cx="39319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but high-value visits. Each one is worth protecting.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16.2%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of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 / Low-Engagement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 of active customers  •  n = 3,242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the average customer (standardized)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1874520"/>
            <a:ext cx="4480560" cy="36576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52360" y="21031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every group on every measure — smallest baskets (~$26)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visits (~1.3x) and the narrowest category range (~1.1)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discount use (~3%) — not price-driven, just disengaged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4434840"/>
            <a:ext cx="3931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Minimally engaged customers, likely drifting toward churn.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 of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Seekers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of active customers  •  n = 5,057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vs. the average customer (standardized)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78040" y="1874520"/>
            <a:ext cx="4480560" cy="3657600"/>
          </a:xfrm>
          <a:prstGeom prst="roundRect">
            <a:avLst>
              <a:gd name="adj" fmla="val 3000"/>
            </a:avLst>
          </a:prstGeom>
          <a:solidFill>
            <a:srgbClr val="F7F8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52360" y="21031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order value (~$45) and moderate frequency (~3x)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heaviest discount users — ~35% average, 3–7x every other group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tracks closely with promotions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52360" y="4434840"/>
            <a:ext cx="3931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Price-driven shoppers who show up when there's a deal on.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Marketing Should Use These Groups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1417320"/>
            <a:ext cx="2542032" cy="438912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" y="1417320"/>
            <a:ext cx="254203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Regulars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860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cross-sell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2139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habit with a loyalty tier; introduce new categories — they already trust the brand and don't need a discount to buy.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9856" y="1417320"/>
            <a:ext cx="2542032" cy="438912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3419856" y="1417320"/>
            <a:ext cx="2542032" cy="1097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21024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Big-Ticket Occasionals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2860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retention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743200"/>
            <a:ext cx="2139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white-glove treatment and early access around their purchase cycle. Avoid blanket discounts — they already pay full price.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417320"/>
            <a:ext cx="2542032" cy="438912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6208" y="1417320"/>
            <a:ext cx="2542032" cy="1097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7376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Dormant / Low-Engagement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2860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or deprioritize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743200"/>
            <a:ext cx="2139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low-cost reactivation campaign; if unresponsive, deprioritize spend here rather than competing for attention.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542032" cy="4389120"/>
          </a:xfrm>
          <a:prstGeom prst="roundRect">
            <a:avLst>
              <a:gd name="adj" fmla="val 3597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417320"/>
            <a:ext cx="2542032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3728" y="16916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Seekers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22860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Promotion-led, margin-aware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743200"/>
            <a:ext cx="2139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on the promo calendar to drive frequency, but track margin — their activity depends on discounts.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UrbanCart's customer base isn't one audience — it's four, and now marketing has the 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6654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identified and validated with two independent objective methods (silhouette/Davies-Bouldin agreement, and a 97.7% cross-algorithm match)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differs from the others on all 4 behavioral features, not just one (ANOVA p &lt; 0.001 across the board)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maps to a distinct, actionable campaign strategy — no more one-size-fits-all messaging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0515600" cy="0"/>
          </a:xfrm>
          <a:prstGeom prst="line">
            <a:avLst/>
          </a:prstGeom>
          <a:noFill/>
          <a:ln w="12700">
            <a:solidFill>
              <a:srgbClr val="3C4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83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targeted campaign per segment and compare response vs. the current blanket approach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customers migrate between segments over time as an early signal of engagement or churn risk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clustering periodically — shopping behavior will drift as the campaigns take effect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Customer Segmentation  | 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2026-09-21T23:12:31Z</dcterms:created>
  <dcterms:modified xsi:type="dcterms:W3CDTF">2026-09-21T23:12:31Z</dcterms:modified>
</cp:coreProperties>
</file>
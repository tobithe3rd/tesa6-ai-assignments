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0E6E6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3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F1</c:v>
                  </c:pt>
                  <c:pt idx="3">
                    <c:v>ROC-AUC</c:v>
                  </c:pt>
                  <c:pt idx="4">
                    <c:v>PR-AUC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0.197</c:v>
                </c:pt>
                <c:pt idx="1">
                  <c:v>0.652</c:v>
                </c:pt>
                <c:pt idx="2">
                  <c:v>0.303</c:v>
                </c:pt>
                <c:pt idx="3">
                  <c:v>0.767</c:v>
                </c:pt>
                <c:pt idx="4">
                  <c:v>0.352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E15A4C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623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Precision</c:v>
                  </c:pt>
                  <c:pt idx="1">
                    <c:v>Recall</c:v>
                  </c:pt>
                  <c:pt idx="2">
                    <c:v>F1</c:v>
                  </c:pt>
                  <c:pt idx="3">
                    <c:v>ROC-AUC</c:v>
                  </c:pt>
                  <c:pt idx="4">
                    <c:v>PR-AUC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0.564</c:v>
                </c:pt>
                <c:pt idx="1">
                  <c:v>0.099</c:v>
                </c:pt>
                <c:pt idx="2">
                  <c:v>0.168</c:v>
                </c:pt>
                <c:pt idx="3">
                  <c:v>0.712</c:v>
                </c:pt>
                <c:pt idx="4">
                  <c:v>0.268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623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3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0"/>
        </c:scaling>
        <c:delete val="0"/>
        <c:axPos val="l"/>
        <c:majorGridlines>
          <c:spPr>
            <a:ln w="12700" cap="flat">
              <a:solidFill>
                <a:srgbClr val="EEF1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6233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E6E6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3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Days Since Last Order</c:v>
                  </c:pt>
                  <c:pt idx="1">
                    <c:v>Avg Order Value</c:v>
                  </c:pt>
                  <c:pt idx="2">
                    <c:v>Months Active</c:v>
                  </c:pt>
                  <c:pt idx="3">
                    <c:v>Num Orders Last Qtr</c:v>
                  </c:pt>
                  <c:pt idx="4">
                    <c:v>Support Tickets Filed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0.359</c:v>
                </c:pt>
                <c:pt idx="1">
                  <c:v>0.283</c:v>
                </c:pt>
                <c:pt idx="2">
                  <c:v>0.207</c:v>
                </c:pt>
                <c:pt idx="3">
                  <c:v>0.099</c:v>
                </c:pt>
                <c:pt idx="4">
                  <c:v>0.053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623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6233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2"/>
          <c:min val="0"/>
        </c:scaling>
        <c:delete val="0"/>
        <c:axPos val="b"/>
        <c:majorGridlines>
          <c:spPr>
            <a:ln w="12700" cap="flat">
              <a:solidFill>
                <a:srgbClr val="EEF1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34840"/>
            <a:ext cx="12188952" cy="2423160"/>
          </a:xfrm>
          <a:prstGeom prst="rect">
            <a:avLst/>
          </a:prstGeom>
          <a:solidFill>
            <a:srgbClr val="10192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 ·  RETENTION TEAM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Customer Churn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7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Flagging at-risk UrbanCart customers before they go quiet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7091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15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20,000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5349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analyzed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480560" y="47091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15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7.8%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480560" y="5349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 (imbalanced)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38160" y="47091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15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8138160" y="5349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8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Adeyemi Tobiloba  ·  UrbanCart Case Study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035040" cy="2743200"/>
          </a:xfrm>
          <a:prstGeom prst="roundRect">
            <a:avLst>
              <a:gd name="adj" fmla="val 4000"/>
            </a:avLst>
          </a:prstGeom>
          <a:solidFill>
            <a:srgbClr val="E3F1EE"/>
          </a:solidFill>
          <a:ln w="12700">
            <a:solidFill>
              <a:srgbClr val="E3F1EE"/>
            </a:solidFill>
            <a:prstDash val="solid"/>
          </a:ln>
          <a:effectLst>
            <a:outerShdw sx="100000" sy="100000" kx="0" ky="0" algn="bl" rotWithShape="0" blurRad="101600" dist="38100" dir="5400000">
              <a:srgbClr val="16233F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508760"/>
            <a:ext cx="5394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think we’re quietly losing customers — people just stop ordering and we don’t notice until it’s too late. By the time we see it in the monthly reports, they’re long gone.”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8680" y="35661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Retention Team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903720" y="13258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WERE GIVEN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03720" y="1792224"/>
            <a:ext cx="109728" cy="109728"/>
          </a:xfrm>
          <a:prstGeom prst="ellipse">
            <a:avLst/>
          </a:prstGeom>
          <a:solidFill>
            <a:srgbClr val="0E6E63"/>
          </a:solidFill>
          <a:ln/>
        </p:spPr>
      </p:sp>
      <p:sp>
        <p:nvSpPr>
          <p:cNvPr id="8" name="Text 6"/>
          <p:cNvSpPr/>
          <p:nvPr/>
        </p:nvSpPr>
        <p:spPr>
          <a:xfrm>
            <a:off x="7178040" y="16642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MonthsActive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903720" y="2212848"/>
            <a:ext cx="109728" cy="109728"/>
          </a:xfrm>
          <a:prstGeom prst="ellipse">
            <a:avLst/>
          </a:prstGeom>
          <a:solidFill>
            <a:srgbClr val="0E6E63"/>
          </a:solidFill>
          <a:ln/>
        </p:spPr>
      </p:sp>
      <p:sp>
        <p:nvSpPr>
          <p:cNvPr id="10" name="Text 8"/>
          <p:cNvSpPr/>
          <p:nvPr/>
        </p:nvSpPr>
        <p:spPr>
          <a:xfrm>
            <a:off x="7178040" y="20848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AvgOrderValue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03720" y="2633472"/>
            <a:ext cx="109728" cy="109728"/>
          </a:xfrm>
          <a:prstGeom prst="ellipse">
            <a:avLst/>
          </a:prstGeom>
          <a:solidFill>
            <a:srgbClr val="0E6E63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040" y="250545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NumOrdersLastQuarter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03720" y="3054096"/>
            <a:ext cx="109728" cy="109728"/>
          </a:xfrm>
          <a:prstGeom prst="ellipse">
            <a:avLst/>
          </a:prstGeom>
          <a:solidFill>
            <a:srgbClr val="0E6E63"/>
          </a:solidFill>
          <a:ln/>
        </p:spPr>
      </p:sp>
      <p:sp>
        <p:nvSpPr>
          <p:cNvPr id="14" name="Text 12"/>
          <p:cNvSpPr/>
          <p:nvPr/>
        </p:nvSpPr>
        <p:spPr>
          <a:xfrm>
            <a:off x="7178040" y="29260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DaysSinceLastOrder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03720" y="3474720"/>
            <a:ext cx="109728" cy="109728"/>
          </a:xfrm>
          <a:prstGeom prst="ellipse">
            <a:avLst/>
          </a:prstGeom>
          <a:solidFill>
            <a:srgbClr val="0E6E63"/>
          </a:solidFill>
          <a:ln/>
        </p:spPr>
      </p:sp>
      <p:sp>
        <p:nvSpPr>
          <p:cNvPr id="16" name="Text 14"/>
          <p:cNvSpPr/>
          <p:nvPr/>
        </p:nvSpPr>
        <p:spPr>
          <a:xfrm>
            <a:off x="7178040" y="334670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23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SupportTicketsFiled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903720" y="3895344"/>
            <a:ext cx="109728" cy="109728"/>
          </a:xfrm>
          <a:prstGeom prst="ellipse">
            <a:avLst/>
          </a:prstGeom>
          <a:solidFill>
            <a:srgbClr val="E15A4C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37673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1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 (target)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16233F"/>
          </a:solidFill>
          <a:ln w="12700">
            <a:solidFill>
              <a:srgbClr val="1623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526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8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48463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model that flags at-risk customers early — using only what UrbanCart already tracks — so retention can act before the customer disappears from the numbers.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Isn’t a Normal Classification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7.8% of customers in the data actually churned.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6744614" cy="1005840"/>
          </a:xfrm>
          <a:prstGeom prst="rect">
            <a:avLst/>
          </a:prstGeom>
          <a:solidFill>
            <a:srgbClr val="E3F1EE"/>
          </a:solidFill>
          <a:ln/>
        </p:spPr>
      </p:sp>
      <p:sp>
        <p:nvSpPr>
          <p:cNvPr id="5" name="Shape 3"/>
          <p:cNvSpPr/>
          <p:nvPr/>
        </p:nvSpPr>
        <p:spPr>
          <a:xfrm>
            <a:off x="7293254" y="1828800"/>
            <a:ext cx="570586" cy="1005840"/>
          </a:xfrm>
          <a:prstGeom prst="rect">
            <a:avLst/>
          </a:prstGeom>
          <a:solidFill>
            <a:srgbClr val="E15A4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07792"/>
            <a:ext cx="674461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E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92.2%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3218688"/>
            <a:ext cx="67446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54496" y="1371600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15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7.8%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54496" y="2907792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1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737360"/>
            <a:ext cx="3429000" cy="3383280"/>
          </a:xfrm>
          <a:prstGeom prst="roundRect">
            <a:avLst>
              <a:gd name="adj" fmla="val 3243"/>
            </a:avLst>
          </a:prstGeom>
          <a:solidFill>
            <a:srgbClr val="FBE6E2"/>
          </a:solidFill>
          <a:ln w="12700">
            <a:solidFill>
              <a:srgbClr val="FBE6E2"/>
            </a:solidFill>
            <a:prstDash val="solid"/>
          </a:ln>
          <a:effectLst>
            <a:outerShdw sx="100000" sy="100000" kx="0" ky="0" algn="bl" rotWithShape="0" blurRad="101600" dist="38100" dir="5400000">
              <a:srgbClr val="16233F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03920" y="19659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E1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ACCURACY TRAP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03920" y="233172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92.2%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503920" y="310896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from a model that predicts “never churns” for every single customer.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503920" y="42519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i="1" dirty="0">
                <a:solidFill>
                  <a:srgbClr val="E1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would look great on paper — and catch zero real churners.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394960"/>
            <a:ext cx="7315200" cy="868680"/>
          </a:xfrm>
          <a:prstGeom prst="roundRect">
            <a:avLst>
              <a:gd name="adj" fmla="val 10526"/>
            </a:avLst>
          </a:prstGeom>
          <a:solidFill>
            <a:srgbClr val="16233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486400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evaluate with precision, recall, F1, and AUC — metrics built for rare-event problems — never with accuracy alone.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E3F1EE"/>
          </a:solidFill>
          <a:ln w="12700">
            <a:solidFill>
              <a:srgbClr val="E4E9EA"/>
            </a:solidFill>
            <a:prstDash val="solid"/>
          </a:ln>
          <a:effectLst>
            <a:outerShdw sx="100000" sy="100000" kx="0" ky="0" algn="bl" rotWithShape="0" blurRad="101600" dist="38100" dir="5400000">
              <a:srgbClr val="16233F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8288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15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Stratified split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train/test split, stratified so both sets keep the same 7.8% churn rate.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8288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15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66160" y="25146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models, same data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3566160" y="329184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and Random Forest, trained on identical scaled features.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E3F1EE"/>
          </a:solidFill>
          <a:ln w="12700">
            <a:solidFill>
              <a:srgbClr val="E4E9EA"/>
            </a:solidFill>
            <a:prstDash val="solid"/>
          </a:ln>
          <a:effectLst>
            <a:outerShdw sx="100000" sy="100000" kx="0" ky="0" algn="bl" rotWithShape="0" blurRad="101600" dist="38100" dir="5400000">
              <a:srgbClr val="16233F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8288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15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00800" y="25146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Imbalance-aware evaluation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400800" y="329184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F1, confusion matrix, ROC-AUC, PR-AUC — on the held-out test set.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052560" y="16002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0" y="182880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15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235440" y="2514600"/>
            <a:ext cx="2240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Evidence-based recommendation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235440" y="329184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recommended, backed by which error costs the business more.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done before any training or tuning — no test-set leakage into model fitting.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That Actually Matter Here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answers a different question about how the model handles the rare churn class.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46504"/>
            <a:ext cx="1600200" cy="493776"/>
          </a:xfrm>
          <a:prstGeom prst="roundRect">
            <a:avLst>
              <a:gd name="adj" fmla="val 14815"/>
            </a:avLst>
          </a:prstGeom>
          <a:solidFill>
            <a:srgbClr val="0E6E6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46504"/>
            <a:ext cx="1600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2606040" y="1600200"/>
            <a:ext cx="8778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everyone who actually churned, how many did we catch?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660904"/>
            <a:ext cx="1600200" cy="493776"/>
          </a:xfrm>
          <a:prstGeom prst="roundRect">
            <a:avLst>
              <a:gd name="adj" fmla="val 14815"/>
            </a:avLst>
          </a:prstGeom>
          <a:solidFill>
            <a:srgbClr val="E15A4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60904"/>
            <a:ext cx="1600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2606040" y="2514600"/>
            <a:ext cx="8778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everyone we flagged as at-risk, how many really churned?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42900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575304"/>
            <a:ext cx="1600200" cy="493776"/>
          </a:xfrm>
          <a:prstGeom prst="roundRect">
            <a:avLst>
              <a:gd name="adj" fmla="val 14815"/>
            </a:avLst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75304"/>
            <a:ext cx="1600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Score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2606040" y="3429000"/>
            <a:ext cx="8778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balance point between recall and precision.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34340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4489704"/>
            <a:ext cx="1600200" cy="493776"/>
          </a:xfrm>
          <a:prstGeom prst="roundRect">
            <a:avLst>
              <a:gd name="adj" fmla="val 14815"/>
            </a:avLst>
          </a:prstGeom>
          <a:solidFill>
            <a:srgbClr val="0E6E6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489704"/>
            <a:ext cx="1600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ROC-AUC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606040" y="4343400"/>
            <a:ext cx="8778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the model separates churners from non-churners overall.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2700">
            <a:solidFill>
              <a:srgbClr val="E4E9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5404104"/>
            <a:ext cx="1600200" cy="493776"/>
          </a:xfrm>
          <a:prstGeom prst="roundRect">
            <a:avLst>
              <a:gd name="adj" fmla="val 14815"/>
            </a:avLst>
          </a:prstGeom>
          <a:solidFill>
            <a:srgbClr val="E15A4C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404104"/>
            <a:ext cx="1600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PR-AUC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2606040" y="5257800"/>
            <a:ext cx="87782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tradeoff area — most informative for a rare positive class.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vs Random Forest — same test set, same features.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8638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641080" y="1600200"/>
            <a:ext cx="3017520" cy="4480560"/>
          </a:xfrm>
          <a:prstGeom prst="roundRect">
            <a:avLst>
              <a:gd name="adj" fmla="val 3030"/>
            </a:avLst>
          </a:prstGeom>
          <a:solidFill>
            <a:srgbClr val="16233F"/>
          </a:solidFill>
          <a:ln/>
        </p:spPr>
      </p:sp>
      <p:sp>
        <p:nvSpPr>
          <p:cNvPr id="6" name="Text 3"/>
          <p:cNvSpPr/>
          <p:nvPr/>
        </p:nvSpPr>
        <p:spPr>
          <a:xfrm>
            <a:off x="8869680" y="1828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8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FIRST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869680" y="21945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 wins on Recall, F1, ROC-AUC and PR-AUC.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869680" y="32918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C7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only wins on Precision — by flagging almost no one.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869680" y="4297680"/>
            <a:ext cx="2560320" cy="0"/>
          </a:xfrm>
          <a:prstGeom prst="line">
            <a:avLst/>
          </a:prstGeom>
          <a:noFill/>
          <a:ln w="12700">
            <a:solidFill>
              <a:srgbClr val="2E3E5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69680" y="4434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6E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65.2%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869680" y="49377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EB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real churners caught by Logistic Regression — vs just 9.9% by Random Forest.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Errors Actually Look Like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 test customers, 313 of whom actually churned.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E9EDEE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1945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2856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72491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98094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left alone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210312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BE6E2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21945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15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83280" y="272491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298094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1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outreach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E15A4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611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109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5800" y="414223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439826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 missed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46120" y="352044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0E6E63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3611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383280" y="414223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439826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 caught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309360" y="1600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309360" y="210312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E9EDEE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21945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3663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446520" y="272491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298094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left alone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006840" y="210312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BE6E2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0" y="21945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15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144000" y="272491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144000" y="298094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1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outreach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09360" y="352044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E15A4C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3611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282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446520" y="414223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46520" y="439826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 missed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006840" y="352044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0E6E63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0" y="3611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9144000" y="414223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144000" y="4398264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 caught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16233F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missed 282 of 313 real churners in the test set. Logistic Regression missed 109.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Mistake Costs UrbanCart More?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349240" cy="3794760"/>
          </a:xfrm>
          <a:prstGeom prst="roundRect">
            <a:avLst>
              <a:gd name="adj" fmla="val 2892"/>
            </a:avLst>
          </a:prstGeom>
          <a:solidFill>
            <a:srgbClr val="FBE6E2"/>
          </a:solidFill>
          <a:ln w="12700">
            <a:solidFill>
              <a:srgbClr val="FBE6E2"/>
            </a:solidFill>
            <a:prstDash val="solid"/>
          </a:ln>
          <a:effectLst>
            <a:outerShdw sx="100000" sy="100000" kx="0" ky="0" algn="bl" rotWithShape="0" blurRad="101600" dist="38100" dir="5400000">
              <a:srgbClr val="16233F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7830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E1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21945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a real churner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leaves with zero intervention attempted. Retention never even knew to try. The customer — and their revenue — is simply gone.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47091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1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COSTLIER MISTAKE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508760"/>
            <a:ext cx="5349240" cy="3794760"/>
          </a:xfrm>
          <a:prstGeom prst="roundRect">
            <a:avLst>
              <a:gd name="adj" fmla="val 2892"/>
            </a:avLst>
          </a:prstGeom>
          <a:solidFill>
            <a:srgbClr val="E3F1EE"/>
          </a:solidFill>
          <a:ln w="12700">
            <a:solidFill>
              <a:srgbClr val="E3F1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78308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20" kern="0" dirty="0">
                <a:solidFill>
                  <a:srgbClr val="0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Flagging a loyal customer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492240" y="288036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sends an outreach that wasn’t needed — one email or call spent on someone who was staying anyway.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92240" y="470916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CHEAPER MISTAKE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62356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16233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recall (catching real churners) is weighted more heavily than precision here.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Drives Churn Risk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feature importance — how much each signal shapes the prediction.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6809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503920" y="1600200"/>
            <a:ext cx="3154680" cy="4480560"/>
          </a:xfrm>
          <a:prstGeom prst="roundRect">
            <a:avLst>
              <a:gd name="adj" fmla="val 2899"/>
            </a:avLst>
          </a:prstGeom>
          <a:solidFill>
            <a:srgbClr val="E3F1EE"/>
          </a:solidFill>
          <a:ln/>
        </p:spPr>
      </p:sp>
      <p:sp>
        <p:nvSpPr>
          <p:cNvPr id="6" name="Text 3"/>
          <p:cNvSpPr/>
          <p:nvPr/>
        </p:nvSpPr>
        <p:spPr>
          <a:xfrm>
            <a:off x="8778240" y="1828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E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SIGNAL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778240" y="21945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Recency drives risk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778240" y="283464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Since Last Order (36%) and Average Order Value (28%) together account for nearly two-thirds of the model’s decision-making.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778240" y="4480560"/>
            <a:ext cx="2651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 volume matters least — churn here looks more behavioral than service-driven.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8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with Logistic Regression.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10607040" cy="1737360"/>
          </a:xfrm>
          <a:prstGeom prst="roundRect">
            <a:avLst>
              <a:gd name="adj" fmla="val 5263"/>
            </a:avLst>
          </a:prstGeom>
          <a:solidFill>
            <a:srgbClr val="1D2D4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6596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05840" y="21214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66160" y="21214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32120" y="21214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0" y="21214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464040" y="21214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50" kern="0" dirty="0">
                <a:solidFill>
                  <a:srgbClr val="8FB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487168"/>
            <a:ext cx="10149840" cy="0"/>
          </a:xfrm>
          <a:prstGeom prst="line">
            <a:avLst/>
          </a:prstGeom>
          <a:noFill/>
          <a:ln w="12700">
            <a:solidFill>
              <a:srgbClr val="2E3E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6060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CD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CD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65.2%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532120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CD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0.303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498080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CD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0.767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464040" y="26060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FCDB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0.352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05840" y="3063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0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66160" y="3063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0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9.9%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532120" y="3063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0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0.168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498080" y="3063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0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0.712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464040" y="3063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0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0.268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77240" y="397764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6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wins on recall, F1, ROC-AUC, and PR-AUC — the metrics that matter most for catching churners early. 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D6E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only wins on precision, and does so by flagging almost no one: it misses 9 out of every 10 real churners.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77240" y="5166360"/>
            <a:ext cx="10607040" cy="1234440"/>
          </a:xfrm>
          <a:prstGeom prst="roundRect">
            <a:avLst>
              <a:gd name="adj" fmla="val 7407"/>
            </a:avLst>
          </a:prstGeom>
          <a:solidFill>
            <a:srgbClr val="E15A4C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5166360"/>
            <a:ext cx="10058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Bonus: it wins on interpretability too — its coefficients show exactly which features raise or lower churn risk, no tradeoff required.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2026-09-20T20:42:53Z</dcterms:created>
  <dcterms:modified xsi:type="dcterms:W3CDTF">2026-09-20T20:42:53Z</dcterms:modified>
</cp:coreProperties>
</file>